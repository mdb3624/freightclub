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team. Today we are formalizing the framework we use to govern generative AI coding. Rather than treating AI code assistants as exempt from traditional quality gates, we are implementing strict software engineering discipline around model triage, testing, database access, and scope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five core defensive pillars. 1) Model-Tiered Delegation manages cognitive and operational costs. 2) Two-Speed Verification balances developer speed with integration safety. 3) Active CI Enforcement prevents bypassable gates. 4) DB Role Auditing enforces tenant isolation at the data layer itself. 5) Structured Escalation ensures AI speed doesn't lead to out-of-control scope creep.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Model-Tiered Delegation is how we manage our model calling budget. Instead of routing basic code searches or log parsing to the top-tier models (which cost 150x more than light models), we explicitly categorize our tasks. Developers and automated scripts default to Tier 1 and Tier 2, and only escalate to Tier 3 when there are system-wide, architectural, or irreversible security-critical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a Two-Speed Software Verification Model. If we forced full rebuilds and full test suites for every single iteration, development would halt—AI creates changes far too fast. Instead, we use Speed 1 (hot database container, run single test class in seconds) during active iteration, but enforce Speed 2 (complete cold rebuild, wiped volumes, full container rebuild, and complete test execution) before any code is allowed to merge or reach production.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cover Mechanisms 3 and 4. A common failure in AI-assisted coding is relying on 'decorative security' — writing beautiful security policies or coverage goals, but never checking if they are actually enforced. We had a case where Maven coverage checks showed green, but because the phase was misbound, the gates never failed. Similarly, in our database, we had highly engineered Row-Level Security code, but the application was connecting with a role that had BYPASSRLS, bypassing the security model entirely. We must transition to strict, verified database and CI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Mechanism 5 is Structured Escalation. With AI tools, developers can refactor thousands of lines of code in seconds. This creates the temptation to refactor massive legacy codebases 'while we're already in the file.' This must be explicitly banned. The 'forward-only' escalation rule requires developers to write the narrowest, most local fix possible for the current task, and log any broader architectural cleanup or structural changes as separate, dedicated tasks for a future sprint. This keeps our PRs reviewable and readable.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transition our engineering team to this disciplined architecture, we have mapped out three phases. Phase 1 is secure and verify, locking down the DB privileges and CI configurations immediately. Phase 2 deploys structured developer tooling and local testing configurations to keep developers fast. Phase 3 focuses on long-term training, ensuring the 'forward-only' escalation rule is followed, and implementing recurring audits of both database connection security and token costs to track efficiency.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011680"/>
            <a:ext cx="10058400" cy="1828800"/>
          </a:xfrm>
          <a:prstGeom prst="rect">
            <a:avLst/>
          </a:prstGeom>
          <a:noFill/>
        </p:spPr>
        <p:txBody>
          <a:bodyPr wrap="square" lIns="0" tIns="0">
            <a:spAutoFit/>
          </a:bodyPr>
          <a:lstStyle/>
          <a:p>
            <a:pPr>
              <a:spcAft>
                <a:spcPts val="400"/>
              </a:spcAft>
              <a:defRPr sz="5400" b="1">
                <a:solidFill>
                  <a:srgbClr val="1E293B"/>
                </a:solidFill>
                <a:latin typeface="Georgia"/>
              </a:defRPr>
            </a:pPr>
            <a:r>
              <a:t>Governing AI Coding</a:t>
            </a:r>
          </a:p>
          <a:p>
            <a:pPr>
              <a:defRPr sz="3200" b="1">
                <a:solidFill>
                  <a:srgbClr val="0F766E"/>
                </a:solidFill>
                <a:latin typeface="Georgia"/>
              </a:defRPr>
            </a:pPr>
            <a:r>
              <a:t>The Architecture of Discipline</a:t>
            </a:r>
          </a:p>
        </p:txBody>
      </p:sp>
      <p:sp>
        <p:nvSpPr>
          <p:cNvPr id="4" name="Rectangle 3"/>
          <p:cNvSpPr/>
          <p:nvPr/>
        </p:nvSpPr>
        <p:spPr>
          <a:xfrm>
            <a:off x="1097280" y="3931920"/>
            <a:ext cx="3657600" cy="381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06240"/>
            <a:ext cx="9144000" cy="1371600"/>
          </a:xfrm>
          <a:prstGeom prst="rect">
            <a:avLst/>
          </a:prstGeom>
          <a:noFill/>
        </p:spPr>
        <p:txBody>
          <a:bodyPr wrap="square" lIns="0" tIns="0">
            <a:spAutoFit/>
          </a:bodyPr>
          <a:lstStyle/>
          <a:p>
            <a:pPr>
              <a:lnSpc>
                <a:spcPct val="125000"/>
              </a:lnSpc>
              <a:defRPr sz="1600">
                <a:solidFill>
                  <a:srgbClr val="64748B"/>
                </a:solidFill>
                <a:latin typeface="Arial"/>
              </a:defRPr>
            </a:pPr>
            <a:r>
              <a:t>A five-part system of automated quality gates, structural triage, and escalation protocols to integrate generative AI models safely into the engineering lifecycle.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a:spAutoFit/>
          </a:bodyPr>
          <a:lstStyle/>
          <a:p>
            <a:pPr>
              <a:defRPr sz="2400" b="1">
                <a:solidFill>
                  <a:srgbClr val="1E293B"/>
                </a:solidFill>
                <a:latin typeface="Georgia"/>
              </a:defRPr>
            </a:pPr>
            <a:r>
              <a:t>Five systematic gates enforce software discipline at machine speed</a:t>
            </a:r>
          </a:p>
        </p:txBody>
      </p:sp>
      <p:sp>
        <p:nvSpPr>
          <p:cNvPr id="3" name="Rectangle 2"/>
          <p:cNvSpPr/>
          <p:nvPr/>
        </p:nvSpPr>
        <p:spPr>
          <a:xfrm>
            <a:off x="548640" y="1417320"/>
            <a:ext cx="11094415" cy="1905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920240"/>
            <a:ext cx="20116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2011680" cy="4023360"/>
          </a:xfrm>
          <a:prstGeom prst="rect">
            <a:avLst/>
          </a:prstGeom>
          <a:noFill/>
        </p:spPr>
        <p:txBody>
          <a:bodyPr wrap="square" lIns="137160" rIns="137160" tIns="182880" bIns="182880">
            <a:spAutoFit/>
          </a:bodyPr>
          <a:lstStyle/>
          <a:p>
            <a:pPr>
              <a:spcAft>
                <a:spcPts val="800"/>
              </a:spcAft>
              <a:defRPr sz="3200" b="1">
                <a:solidFill>
                  <a:srgbClr val="0F766E"/>
                </a:solidFill>
                <a:latin typeface="Georgia"/>
              </a:defRPr>
            </a:pPr>
            <a:r>
              <a:t>01</a:t>
            </a:r>
          </a:p>
          <a:p>
            <a:pPr>
              <a:spcAft>
                <a:spcPts val="1000"/>
              </a:spcAft>
              <a:defRPr sz="1500" b="1">
                <a:solidFill>
                  <a:srgbClr val="1E293B"/>
                </a:solidFill>
                <a:latin typeface="Georgia"/>
              </a:defRPr>
            </a:pPr>
            <a:r>
              <a:t>Model-Tiered</a:t>
            </a:r>
            <a:br/>
            <a:r>
              <a:t>Delegation</a:t>
            </a:r>
          </a:p>
          <a:p>
            <a:pPr>
              <a:lnSpc>
                <a:spcPct val="115000"/>
              </a:lnSpc>
              <a:defRPr sz="1050">
                <a:solidFill>
                  <a:srgbClr val="64748B"/>
                </a:solidFill>
                <a:latin typeface="Arial"/>
              </a:defRPr>
            </a:pPr>
            <a:r>
              <a:t>Triage task routing by judgment weight and blast radius. Run cheap models for fanning out and heavy reasoning engines only for complex schema or architecture refactoring.</a:t>
            </a:r>
          </a:p>
        </p:txBody>
      </p:sp>
      <p:sp>
        <p:nvSpPr>
          <p:cNvPr id="6" name="Rounded Rectangle 5"/>
          <p:cNvSpPr/>
          <p:nvPr/>
        </p:nvSpPr>
        <p:spPr>
          <a:xfrm>
            <a:off x="2788920" y="1920240"/>
            <a:ext cx="20116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88920" y="1920240"/>
            <a:ext cx="2011680" cy="4023360"/>
          </a:xfrm>
          <a:prstGeom prst="rect">
            <a:avLst/>
          </a:prstGeom>
          <a:noFill/>
        </p:spPr>
        <p:txBody>
          <a:bodyPr wrap="square" lIns="137160" rIns="137160" tIns="182880" bIns="182880">
            <a:spAutoFit/>
          </a:bodyPr>
          <a:lstStyle/>
          <a:p>
            <a:pPr>
              <a:spcAft>
                <a:spcPts val="800"/>
              </a:spcAft>
              <a:defRPr sz="3200" b="1">
                <a:solidFill>
                  <a:srgbClr val="0F766E"/>
                </a:solidFill>
                <a:latin typeface="Georgia"/>
              </a:defRPr>
            </a:pPr>
            <a:r>
              <a:t>02</a:t>
            </a:r>
          </a:p>
          <a:p>
            <a:pPr>
              <a:spcAft>
                <a:spcPts val="1000"/>
              </a:spcAft>
              <a:defRPr sz="1500" b="1">
                <a:solidFill>
                  <a:srgbClr val="1E293B"/>
                </a:solidFill>
                <a:latin typeface="Georgia"/>
              </a:defRPr>
            </a:pPr>
            <a:r>
              <a:t>Two-Speed</a:t>
            </a:r>
            <a:br/>
            <a:r>
              <a:t>Verification</a:t>
            </a:r>
          </a:p>
          <a:p>
            <a:pPr>
              <a:lnSpc>
                <a:spcPct val="115000"/>
              </a:lnSpc>
              <a:defRPr sz="1050">
                <a:solidFill>
                  <a:srgbClr val="64748B"/>
                </a:solidFill>
                <a:latin typeface="Arial"/>
              </a:defRPr>
            </a:pPr>
            <a:r>
              <a:t>De-bottleneck loops by decoupling local red-green testing from mandatory pre-merge cold builds. Keep iteration feedback loops under 5 seconds while ensuring bulletproof PR gates.</a:t>
            </a:r>
          </a:p>
        </p:txBody>
      </p:sp>
      <p:sp>
        <p:nvSpPr>
          <p:cNvPr id="8" name="Rounded Rectangle 7"/>
          <p:cNvSpPr/>
          <p:nvPr/>
        </p:nvSpPr>
        <p:spPr>
          <a:xfrm>
            <a:off x="5029200" y="1920240"/>
            <a:ext cx="20116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0" y="1920240"/>
            <a:ext cx="2011680" cy="4023360"/>
          </a:xfrm>
          <a:prstGeom prst="rect">
            <a:avLst/>
          </a:prstGeom>
          <a:noFill/>
        </p:spPr>
        <p:txBody>
          <a:bodyPr wrap="square" lIns="137160" rIns="137160" tIns="182880" bIns="182880">
            <a:spAutoFit/>
          </a:bodyPr>
          <a:lstStyle/>
          <a:p>
            <a:pPr>
              <a:spcAft>
                <a:spcPts val="800"/>
              </a:spcAft>
              <a:defRPr sz="3200" b="1">
                <a:solidFill>
                  <a:srgbClr val="0F766E"/>
                </a:solidFill>
                <a:latin typeface="Georgia"/>
              </a:defRPr>
            </a:pPr>
            <a:r>
              <a:t>03</a:t>
            </a:r>
          </a:p>
          <a:p>
            <a:pPr>
              <a:spcAft>
                <a:spcPts val="1000"/>
              </a:spcAft>
              <a:defRPr sz="1500" b="1">
                <a:solidFill>
                  <a:srgbClr val="1E293B"/>
                </a:solidFill>
                <a:latin typeface="Georgia"/>
              </a:defRPr>
            </a:pPr>
            <a:r>
              <a:t>Active CI</a:t>
            </a:r>
            <a:br/>
            <a:r>
              <a:t>Enforcement</a:t>
            </a:r>
          </a:p>
          <a:p>
            <a:pPr>
              <a:lnSpc>
                <a:spcPct val="115000"/>
              </a:lnSpc>
              <a:defRPr sz="1050">
                <a:solidFill>
                  <a:srgbClr val="64748B"/>
                </a:solidFill>
                <a:latin typeface="Arial"/>
              </a:defRPr>
            </a:pPr>
            <a:r>
              <a:t>Ensure automated code coverage and styling checks actively fail the build instead of acting as ignored status reports. Close gaps where gates are bound to uninvoked build phases.</a:t>
            </a:r>
          </a:p>
        </p:txBody>
      </p:sp>
      <p:sp>
        <p:nvSpPr>
          <p:cNvPr id="10" name="Rounded Rectangle 9"/>
          <p:cNvSpPr/>
          <p:nvPr/>
        </p:nvSpPr>
        <p:spPr>
          <a:xfrm>
            <a:off x="7269480" y="1920240"/>
            <a:ext cx="20116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69480" y="1920240"/>
            <a:ext cx="2011680" cy="4023360"/>
          </a:xfrm>
          <a:prstGeom prst="rect">
            <a:avLst/>
          </a:prstGeom>
          <a:noFill/>
        </p:spPr>
        <p:txBody>
          <a:bodyPr wrap="square" lIns="137160" rIns="137160" tIns="182880" bIns="182880">
            <a:spAutoFit/>
          </a:bodyPr>
          <a:lstStyle/>
          <a:p>
            <a:pPr>
              <a:spcAft>
                <a:spcPts val="800"/>
              </a:spcAft>
              <a:defRPr sz="3200" b="1">
                <a:solidFill>
                  <a:srgbClr val="0F766E"/>
                </a:solidFill>
                <a:latin typeface="Georgia"/>
              </a:defRPr>
            </a:pPr>
            <a:r>
              <a:t>04</a:t>
            </a:r>
          </a:p>
          <a:p>
            <a:pPr>
              <a:spcAft>
                <a:spcPts val="1000"/>
              </a:spcAft>
              <a:defRPr sz="1500" b="1">
                <a:solidFill>
                  <a:srgbClr val="1E293B"/>
                </a:solidFill>
                <a:latin typeface="Georgia"/>
              </a:defRPr>
            </a:pPr>
            <a:r>
              <a:t>DB Role</a:t>
            </a:r>
            <a:br/>
            <a:r>
              <a:t>Auditing</a:t>
            </a:r>
          </a:p>
          <a:p>
            <a:pPr>
              <a:lnSpc>
                <a:spcPct val="115000"/>
              </a:lnSpc>
              <a:defRPr sz="1050">
                <a:solidFill>
                  <a:srgbClr val="64748B"/>
                </a:solidFill>
                <a:latin typeface="Arial"/>
              </a:defRPr>
            </a:pPr>
            <a:r>
              <a:t>Protect multi-tenant environments by auditing database connection privileges, not just application-level code. Revoke bypass privileges like 'BYPASSRLS' to guarantee active security.</a:t>
            </a:r>
          </a:p>
        </p:txBody>
      </p:sp>
      <p:sp>
        <p:nvSpPr>
          <p:cNvPr id="12" name="Rounded Rectangle 11"/>
          <p:cNvSpPr/>
          <p:nvPr/>
        </p:nvSpPr>
        <p:spPr>
          <a:xfrm>
            <a:off x="9509760" y="1920240"/>
            <a:ext cx="20116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0" y="1920240"/>
            <a:ext cx="2011680" cy="4023360"/>
          </a:xfrm>
          <a:prstGeom prst="rect">
            <a:avLst/>
          </a:prstGeom>
          <a:noFill/>
        </p:spPr>
        <p:txBody>
          <a:bodyPr wrap="square" lIns="137160" rIns="137160" tIns="182880" bIns="182880">
            <a:spAutoFit/>
          </a:bodyPr>
          <a:lstStyle/>
          <a:p>
            <a:pPr>
              <a:spcAft>
                <a:spcPts val="800"/>
              </a:spcAft>
              <a:defRPr sz="3200" b="1">
                <a:solidFill>
                  <a:srgbClr val="0F766E"/>
                </a:solidFill>
                <a:latin typeface="Georgia"/>
              </a:defRPr>
            </a:pPr>
            <a:r>
              <a:t>05</a:t>
            </a:r>
          </a:p>
          <a:p>
            <a:pPr>
              <a:spcAft>
                <a:spcPts val="1000"/>
              </a:spcAft>
              <a:defRPr sz="1500" b="1">
                <a:solidFill>
                  <a:srgbClr val="1E293B"/>
                </a:solidFill>
                <a:latin typeface="Georgia"/>
              </a:defRPr>
            </a:pPr>
            <a:r>
              <a:t>Structured</a:t>
            </a:r>
            <a:br/>
            <a:r>
              <a:t>Escalation</a:t>
            </a:r>
          </a:p>
          <a:p>
            <a:pPr>
              <a:lnSpc>
                <a:spcPct val="115000"/>
              </a:lnSpc>
              <a:defRPr sz="1050">
                <a:solidFill>
                  <a:srgbClr val="64748B"/>
                </a:solidFill>
                <a:latin typeface="Arial"/>
              </a:defRPr>
            </a:pPr>
            <a:r>
              <a:t>Implement a strict 'forward-only' escalation rule to prevent refactoring creep. Make localized quick fixes and log deep architectural cleanups as decoupled tracking tickets.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a:spAutoFit/>
          </a:bodyPr>
          <a:lstStyle/>
          <a:p>
            <a:pPr>
              <a:defRPr sz="2400" b="1">
                <a:solidFill>
                  <a:srgbClr val="1E293B"/>
                </a:solidFill>
                <a:latin typeface="Georgia"/>
              </a:defRPr>
            </a:pPr>
            <a:r>
              <a:t>Triage tasks by judgment weight to optimize cost and quality</a:t>
            </a:r>
          </a:p>
        </p:txBody>
      </p:sp>
      <p:sp>
        <p:nvSpPr>
          <p:cNvPr id="3" name="Rectangle 2"/>
          <p:cNvSpPr/>
          <p:nvPr/>
        </p:nvSpPr>
        <p:spPr>
          <a:xfrm>
            <a:off x="548640" y="1417320"/>
            <a:ext cx="11094415" cy="1905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920240"/>
            <a:ext cx="347472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3474720" cy="4114800"/>
          </a:xfrm>
          <a:prstGeom prst="rect">
            <a:avLst/>
          </a:prstGeom>
          <a:noFill/>
        </p:spPr>
        <p:txBody>
          <a:bodyPr wrap="square" lIns="228600" rIns="228600" tIns="228600" bIns="182880">
            <a:spAutoFit/>
          </a:bodyPr>
          <a:lstStyle/>
          <a:p>
            <a:pPr>
              <a:spcAft>
                <a:spcPts val="200"/>
              </a:spcAft>
              <a:defRPr sz="1200" b="1">
                <a:solidFill>
                  <a:srgbClr val="1E293B"/>
                </a:solidFill>
                <a:latin typeface="Arial"/>
              </a:defRPr>
            </a:pPr>
            <a:r>
              <a:t>TIER 1: LIGHTWEIGHT</a:t>
            </a:r>
          </a:p>
          <a:p>
            <a:pPr>
              <a:spcAft>
                <a:spcPts val="600"/>
              </a:spcAft>
              <a:defRPr sz="1700" b="1">
                <a:solidFill>
                  <a:srgbClr val="1E293B"/>
                </a:solidFill>
                <a:latin typeface="Georgia"/>
              </a:defRPr>
            </a:pPr>
            <a:r>
              <a:t>Parallel Retrieval &amp; Fan-out</a:t>
            </a:r>
          </a:p>
          <a:p>
            <a:pPr>
              <a:spcAft>
                <a:spcPts val="800"/>
              </a:spcAft>
              <a:defRPr sz="1100">
                <a:solidFill>
                  <a:srgbClr val="1E293B"/>
                </a:solidFill>
                <a:latin typeface="Arial"/>
              </a:defRPr>
            </a:pPr>
            <a:r>
              <a:t>Low-judgment, highly repetitive work with a low blast radius.</a:t>
            </a:r>
          </a:p>
          <a:p>
            <a:pPr>
              <a:spcAft>
                <a:spcPts val="400"/>
              </a:spcAft>
              <a:defRPr sz="1050" b="1">
                <a:solidFill>
                  <a:srgbClr val="64748B"/>
                </a:solidFill>
                <a:latin typeface="Arial"/>
              </a:defRPr>
            </a:pPr>
            <a:r>
              <a:t>Target Workloads:</a:t>
            </a:r>
          </a:p>
          <a:p>
            <a:pPr>
              <a:lnSpc>
                <a:spcPct val="110000"/>
              </a:lnSpc>
              <a:spcAft>
                <a:spcPts val="200"/>
              </a:spcAft>
              <a:defRPr sz="1050">
                <a:solidFill>
                  <a:srgbClr val="1E293B"/>
                </a:solidFill>
                <a:latin typeface="Arial"/>
              </a:defRPr>
            </a:pPr>
            <a:r>
              <a:t>• Codebase mapping &amp; structure search</a:t>
            </a:r>
          </a:p>
          <a:p>
            <a:pPr>
              <a:lnSpc>
                <a:spcPct val="110000"/>
              </a:lnSpc>
              <a:spcAft>
                <a:spcPts val="200"/>
              </a:spcAft>
              <a:defRPr sz="1050">
                <a:solidFill>
                  <a:srgbClr val="1E293B"/>
                </a:solidFill>
                <a:latin typeface="Arial"/>
              </a:defRPr>
            </a:pPr>
            <a:r>
              <a:t>• Summarizing log dumps and trace files</a:t>
            </a:r>
          </a:p>
          <a:p>
            <a:pPr>
              <a:lnSpc>
                <a:spcPct val="110000"/>
              </a:lnSpc>
              <a:spcAft>
                <a:spcPts val="200"/>
              </a:spcAft>
              <a:defRPr sz="1050">
                <a:solidFill>
                  <a:srgbClr val="1E293B"/>
                </a:solidFill>
                <a:latin typeface="Arial"/>
              </a:defRPr>
            </a:pPr>
            <a:r>
              <a:t>• Mechanical global find-and-replace</a:t>
            </a:r>
          </a:p>
          <a:p>
            <a:pPr>
              <a:lnSpc>
                <a:spcPct val="110000"/>
              </a:lnSpc>
              <a:spcAft>
                <a:spcPts val="1000"/>
              </a:spcAft>
              <a:defRPr sz="1050">
                <a:solidFill>
                  <a:srgbClr val="1E293B"/>
                </a:solidFill>
                <a:latin typeface="Arial"/>
              </a:defRPr>
            </a:pPr>
            <a:r>
              <a:t>• Generating boilerplate code structures</a:t>
            </a:r>
          </a:p>
          <a:p>
            <a:pPr>
              <a:defRPr sz="1100" b="1">
                <a:solidFill>
                  <a:srgbClr val="64748B"/>
                </a:solidFill>
                <a:latin typeface="Arial"/>
              </a:defRPr>
            </a:pPr>
            <a:r>
              <a:t>Cost: ~$0.001 / thousand tokens</a:t>
            </a:r>
          </a:p>
        </p:txBody>
      </p:sp>
      <p:sp>
        <p:nvSpPr>
          <p:cNvPr id="6" name="Rounded Rectangle 5"/>
          <p:cNvSpPr/>
          <p:nvPr/>
        </p:nvSpPr>
        <p:spPr>
          <a:xfrm>
            <a:off x="4343400" y="1920240"/>
            <a:ext cx="3474720" cy="4114800"/>
          </a:xfrm>
          <a:prstGeom prst="roundRect">
            <a:avLst/>
          </a:prstGeom>
          <a:solidFill>
            <a:srgbClr val="F0FD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343400" y="1920240"/>
            <a:ext cx="3474720" cy="4114800"/>
          </a:xfrm>
          <a:prstGeom prst="rect">
            <a:avLst/>
          </a:prstGeom>
          <a:noFill/>
        </p:spPr>
        <p:txBody>
          <a:bodyPr wrap="square" lIns="228600" rIns="228600" tIns="228600" bIns="182880">
            <a:spAutoFit/>
          </a:bodyPr>
          <a:lstStyle/>
          <a:p>
            <a:pPr>
              <a:spcAft>
                <a:spcPts val="200"/>
              </a:spcAft>
              <a:defRPr sz="1200" b="1">
                <a:solidFill>
                  <a:srgbClr val="0F766E"/>
                </a:solidFill>
                <a:latin typeface="Arial"/>
              </a:defRPr>
            </a:pPr>
            <a:r>
              <a:t>TIER 2: MID-RANGE</a:t>
            </a:r>
          </a:p>
          <a:p>
            <a:pPr>
              <a:spcAft>
                <a:spcPts val="600"/>
              </a:spcAft>
              <a:defRPr sz="1700" b="1">
                <a:solidFill>
                  <a:srgbClr val="1E293B"/>
                </a:solidFill>
                <a:latin typeface="Georgia"/>
              </a:defRPr>
            </a:pPr>
            <a:r>
              <a:t>Day-to-day Implementation</a:t>
            </a:r>
          </a:p>
          <a:p>
            <a:pPr>
              <a:spcAft>
                <a:spcPts val="800"/>
              </a:spcAft>
              <a:defRPr sz="1100">
                <a:solidFill>
                  <a:srgbClr val="1E293B"/>
                </a:solidFill>
                <a:latin typeface="Arial"/>
              </a:defRPr>
            </a:pPr>
            <a:r>
              <a:t>Standard engineering work implementing designs inside defined parameters.</a:t>
            </a:r>
          </a:p>
          <a:p>
            <a:pPr>
              <a:spcAft>
                <a:spcPts val="400"/>
              </a:spcAft>
              <a:defRPr sz="1050" b="1">
                <a:solidFill>
                  <a:srgbClr val="64748B"/>
                </a:solidFill>
                <a:latin typeface="Arial"/>
              </a:defRPr>
            </a:pPr>
            <a:r>
              <a:t>Target Workloads:</a:t>
            </a:r>
          </a:p>
          <a:p>
            <a:pPr>
              <a:lnSpc>
                <a:spcPct val="110000"/>
              </a:lnSpc>
              <a:spcAft>
                <a:spcPts val="200"/>
              </a:spcAft>
              <a:defRPr sz="1050">
                <a:solidFill>
                  <a:srgbClr val="1E293B"/>
                </a:solidFill>
                <a:latin typeface="Arial"/>
              </a:defRPr>
            </a:pPr>
            <a:r>
              <a:t>• Writing unit and integration tests</a:t>
            </a:r>
          </a:p>
          <a:p>
            <a:pPr>
              <a:lnSpc>
                <a:spcPct val="110000"/>
              </a:lnSpc>
              <a:spcAft>
                <a:spcPts val="200"/>
              </a:spcAft>
              <a:defRPr sz="1050">
                <a:solidFill>
                  <a:srgbClr val="1E293B"/>
                </a:solidFill>
                <a:latin typeface="Arial"/>
              </a:defRPr>
            </a:pPr>
            <a:r>
              <a:t>• Targeted localized bug fixing</a:t>
            </a:r>
          </a:p>
          <a:p>
            <a:pPr>
              <a:lnSpc>
                <a:spcPct val="110000"/>
              </a:lnSpc>
              <a:spcAft>
                <a:spcPts val="200"/>
              </a:spcAft>
              <a:defRPr sz="1050">
                <a:solidFill>
                  <a:srgbClr val="1E293B"/>
                </a:solidFill>
                <a:latin typeface="Arial"/>
              </a:defRPr>
            </a:pPr>
            <a:r>
              <a:t>• Fleshing out predefined interfaces</a:t>
            </a:r>
          </a:p>
          <a:p>
            <a:pPr>
              <a:lnSpc>
                <a:spcPct val="110000"/>
              </a:lnSpc>
              <a:spcAft>
                <a:spcPts val="1000"/>
              </a:spcAft>
              <a:defRPr sz="1050">
                <a:solidFill>
                  <a:srgbClr val="1E293B"/>
                </a:solidFill>
                <a:latin typeface="Arial"/>
              </a:defRPr>
            </a:pPr>
            <a:r>
              <a:t>• Documentation generation &amp; docstrings</a:t>
            </a:r>
          </a:p>
          <a:p>
            <a:pPr>
              <a:defRPr sz="1100" b="1">
                <a:solidFill>
                  <a:srgbClr val="0F766E"/>
                </a:solidFill>
                <a:latin typeface="Arial"/>
              </a:defRPr>
            </a:pPr>
            <a:r>
              <a:t>Cost: ~$0.015 / thousand tokens</a:t>
            </a:r>
          </a:p>
        </p:txBody>
      </p:sp>
      <p:sp>
        <p:nvSpPr>
          <p:cNvPr id="8" name="Rounded Rectangle 7"/>
          <p:cNvSpPr/>
          <p:nvPr/>
        </p:nvSpPr>
        <p:spPr>
          <a:xfrm>
            <a:off x="8138160" y="1920240"/>
            <a:ext cx="347472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920240"/>
            <a:ext cx="3474720" cy="4114800"/>
          </a:xfrm>
          <a:prstGeom prst="rect">
            <a:avLst/>
          </a:prstGeom>
          <a:noFill/>
        </p:spPr>
        <p:txBody>
          <a:bodyPr wrap="square" lIns="228600" rIns="228600" tIns="228600" bIns="182880">
            <a:spAutoFit/>
          </a:bodyPr>
          <a:lstStyle/>
          <a:p>
            <a:pPr>
              <a:spcAft>
                <a:spcPts val="200"/>
              </a:spcAft>
              <a:defRPr sz="1200" b="1">
                <a:solidFill>
                  <a:srgbClr val="1E293B"/>
                </a:solidFill>
                <a:latin typeface="Arial"/>
              </a:defRPr>
            </a:pPr>
            <a:r>
              <a:t>TIER 3: TOP-TIER</a:t>
            </a:r>
          </a:p>
          <a:p>
            <a:pPr>
              <a:spcAft>
                <a:spcPts val="600"/>
              </a:spcAft>
              <a:defRPr sz="1700" b="1">
                <a:solidFill>
                  <a:srgbClr val="1E293B"/>
                </a:solidFill>
                <a:latin typeface="Georgia"/>
              </a:defRPr>
            </a:pPr>
            <a:r>
              <a:t>Architecture &amp; High Blast-Radius</a:t>
            </a:r>
          </a:p>
          <a:p>
            <a:pPr>
              <a:spcAft>
                <a:spcPts val="800"/>
              </a:spcAft>
              <a:defRPr sz="1100">
                <a:solidFill>
                  <a:srgbClr val="1E293B"/>
                </a:solidFill>
                <a:latin typeface="Arial"/>
              </a:defRPr>
            </a:pPr>
            <a:r>
              <a:t>Complex reasoning-heavy tasks that reshape major boundaries.</a:t>
            </a:r>
          </a:p>
          <a:p>
            <a:pPr>
              <a:spcAft>
                <a:spcPts val="400"/>
              </a:spcAft>
              <a:defRPr sz="1050" b="1">
                <a:solidFill>
                  <a:srgbClr val="64748B"/>
                </a:solidFill>
                <a:latin typeface="Arial"/>
              </a:defRPr>
            </a:pPr>
            <a:r>
              <a:t>Target Workloads:</a:t>
            </a:r>
          </a:p>
          <a:p>
            <a:pPr>
              <a:lnSpc>
                <a:spcPct val="110000"/>
              </a:lnSpc>
              <a:spcAft>
                <a:spcPts val="200"/>
              </a:spcAft>
              <a:defRPr sz="1050">
                <a:solidFill>
                  <a:srgbClr val="1E293B"/>
                </a:solidFill>
                <a:latin typeface="Arial"/>
              </a:defRPr>
            </a:pPr>
            <a:r>
              <a:t>• Multi-file codebase wide refactoring</a:t>
            </a:r>
          </a:p>
          <a:p>
            <a:pPr>
              <a:lnSpc>
                <a:spcPct val="110000"/>
              </a:lnSpc>
              <a:spcAft>
                <a:spcPts val="200"/>
              </a:spcAft>
              <a:defRPr sz="1050">
                <a:solidFill>
                  <a:srgbClr val="1E293B"/>
                </a:solidFill>
                <a:latin typeface="Arial"/>
              </a:defRPr>
            </a:pPr>
            <a:r>
              <a:t>• Database domain and schema design</a:t>
            </a:r>
          </a:p>
          <a:p>
            <a:pPr>
              <a:lnSpc>
                <a:spcPct val="110000"/>
              </a:lnSpc>
              <a:spcAft>
                <a:spcPts val="200"/>
              </a:spcAft>
              <a:defRPr sz="1050">
                <a:solidFill>
                  <a:srgbClr val="1E293B"/>
                </a:solidFill>
                <a:latin typeface="Arial"/>
              </a:defRPr>
            </a:pPr>
            <a:r>
              <a:t>• Security and encryption boundaries</a:t>
            </a:r>
          </a:p>
          <a:p>
            <a:pPr>
              <a:lnSpc>
                <a:spcPct val="110000"/>
              </a:lnSpc>
              <a:spcAft>
                <a:spcPts val="1000"/>
              </a:spcAft>
              <a:defRPr sz="1050">
                <a:solidFill>
                  <a:srgbClr val="1E293B"/>
                </a:solidFill>
                <a:latin typeface="Arial"/>
              </a:defRPr>
            </a:pPr>
            <a:r>
              <a:t>• High-level system design trade-offs</a:t>
            </a:r>
          </a:p>
          <a:p>
            <a:pPr>
              <a:defRPr sz="1100" b="1">
                <a:solidFill>
                  <a:srgbClr val="64748B"/>
                </a:solidFill>
                <a:latin typeface="Arial"/>
              </a:defRPr>
            </a:pPr>
            <a:r>
              <a:t>Cost: ~$0.150 / thousand tokens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a:spAutoFit/>
          </a:bodyPr>
          <a:lstStyle/>
          <a:p>
            <a:pPr>
              <a:defRPr sz="2400" b="1">
                <a:solidFill>
                  <a:srgbClr val="1E293B"/>
                </a:solidFill>
                <a:latin typeface="Georgia"/>
              </a:defRPr>
            </a:pPr>
            <a:r>
              <a:t>Decouple fast local loops from rigid pre-merge quality gates</a:t>
            </a:r>
          </a:p>
        </p:txBody>
      </p:sp>
      <p:sp>
        <p:nvSpPr>
          <p:cNvPr id="3" name="Rectangle 2"/>
          <p:cNvSpPr/>
          <p:nvPr/>
        </p:nvSpPr>
        <p:spPr>
          <a:xfrm>
            <a:off x="548640" y="1417320"/>
            <a:ext cx="11094415" cy="1905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920240"/>
            <a:ext cx="512064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120640" cy="4114800"/>
          </a:xfrm>
          <a:prstGeom prst="rect">
            <a:avLst/>
          </a:prstGeom>
          <a:noFill/>
        </p:spPr>
        <p:txBody>
          <a:bodyPr wrap="square" lIns="274320" rIns="274320" tIns="274320">
            <a:spAutoFit/>
          </a:bodyPr>
          <a:lstStyle/>
          <a:p>
            <a:pPr>
              <a:spcAft>
                <a:spcPts val="400"/>
              </a:spcAft>
              <a:defRPr sz="1100" b="1">
                <a:solidFill>
                  <a:srgbClr val="0F766E"/>
                </a:solidFill>
                <a:latin typeface="Arial"/>
              </a:defRPr>
            </a:pPr>
            <a:r>
              <a:t>SPEED 1: LOCAL RED/GREEN ITERATION</a:t>
            </a:r>
          </a:p>
          <a:p>
            <a:pPr>
              <a:spcAft>
                <a:spcPts val="800"/>
              </a:spcAft>
              <a:defRPr sz="2400" b="1">
                <a:solidFill>
                  <a:srgbClr val="1E293B"/>
                </a:solidFill>
                <a:latin typeface="Georgia"/>
              </a:defRPr>
            </a:pPr>
            <a:r>
              <a:t>Feedback in Seconds</a:t>
            </a:r>
          </a:p>
          <a:p>
            <a:pPr>
              <a:lnSpc>
                <a:spcPct val="120000"/>
              </a:lnSpc>
              <a:spcAft>
                <a:spcPts val="1000"/>
              </a:spcAft>
              <a:defRPr sz="1200">
                <a:solidFill>
                  <a:srgbClr val="1E293B"/>
                </a:solidFill>
                <a:latin typeface="Arial"/>
              </a:defRPr>
            </a:pPr>
            <a:r>
              <a:t>During active engineering, we do not perform full builds. Developers run a single, targeted test class against an already-running containerized backend stack. This preserves mental flow and validates logic changes immediately.</a:t>
            </a:r>
          </a:p>
          <a:p>
            <a:pPr>
              <a:spcAft>
                <a:spcPts val="300"/>
              </a:spcAft>
              <a:defRPr sz="1100">
                <a:solidFill>
                  <a:srgbClr val="64748B"/>
                </a:solidFill>
                <a:latin typeface="Arial"/>
              </a:defRPr>
            </a:pPr>
            <a:r>
              <a:t>• Targets the specific module containing the modified file</a:t>
            </a:r>
          </a:p>
          <a:p>
            <a:pPr>
              <a:spcAft>
                <a:spcPts val="300"/>
              </a:spcAft>
              <a:defRPr sz="1100">
                <a:solidFill>
                  <a:srgbClr val="64748B"/>
                </a:solidFill>
                <a:latin typeface="Arial"/>
              </a:defRPr>
            </a:pPr>
            <a:r>
              <a:t>• Leverages persistent local test database volumes</a:t>
            </a:r>
          </a:p>
          <a:p>
            <a:pPr>
              <a:spcAft>
                <a:spcPts val="300"/>
              </a:spcAft>
              <a:defRPr sz="1100">
                <a:solidFill>
                  <a:srgbClr val="64748B"/>
                </a:solidFill>
                <a:latin typeface="Arial"/>
              </a:defRPr>
            </a:pPr>
            <a:r>
              <a:t>• Ensures immediate developer-side verification in &lt; 5 seconds</a:t>
            </a:r>
          </a:p>
        </p:txBody>
      </p:sp>
      <p:sp>
        <p:nvSpPr>
          <p:cNvPr id="6" name="Rounded Rectangle 5"/>
          <p:cNvSpPr/>
          <p:nvPr/>
        </p:nvSpPr>
        <p:spPr>
          <a:xfrm>
            <a:off x="6492240" y="1920240"/>
            <a:ext cx="5120640" cy="4114800"/>
          </a:xfrm>
          <a:prstGeom prst="roundRect">
            <a:avLst/>
          </a:prstGeom>
          <a:solidFill>
            <a:srgbClr val="F0FD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20240"/>
            <a:ext cx="5120640" cy="4114800"/>
          </a:xfrm>
          <a:prstGeom prst="rect">
            <a:avLst/>
          </a:prstGeom>
          <a:noFill/>
        </p:spPr>
        <p:txBody>
          <a:bodyPr wrap="square" lIns="274320" rIns="274320" tIns="274320">
            <a:spAutoFit/>
          </a:bodyPr>
          <a:lstStyle/>
          <a:p>
            <a:pPr>
              <a:spcAft>
                <a:spcPts val="400"/>
              </a:spcAft>
              <a:defRPr sz="1100" b="1">
                <a:solidFill>
                  <a:srgbClr val="0F766E"/>
                </a:solidFill>
                <a:latin typeface="Arial"/>
              </a:defRPr>
            </a:pPr>
            <a:r>
              <a:t>SPEED 2: PRE-MERGE COLD REBUILD</a:t>
            </a:r>
          </a:p>
          <a:p>
            <a:pPr>
              <a:spcAft>
                <a:spcPts val="800"/>
              </a:spcAft>
              <a:defRPr sz="2400" b="1">
                <a:solidFill>
                  <a:srgbClr val="1E293B"/>
                </a:solidFill>
                <a:latin typeface="Georgia"/>
              </a:defRPr>
            </a:pPr>
            <a:r>
              <a:t>Cold Slate Compliance</a:t>
            </a:r>
          </a:p>
          <a:p>
            <a:pPr>
              <a:lnSpc>
                <a:spcPct val="120000"/>
              </a:lnSpc>
              <a:spcAft>
                <a:spcPts val="1000"/>
              </a:spcAft>
              <a:defRPr sz="1200">
                <a:solidFill>
                  <a:srgbClr val="1E293B"/>
                </a:solidFill>
                <a:latin typeface="Arial"/>
              </a:defRPr>
            </a:pPr>
            <a:r>
              <a:t>Before merging any pull request or deploying, the environment must undergo a total, cold rebuild. This involves erasing all persistent local volumes, tearing down and restarting all containers, and running the complete test suite.</a:t>
            </a:r>
          </a:p>
          <a:p>
            <a:pPr>
              <a:spcAft>
                <a:spcPts val="300"/>
              </a:spcAft>
              <a:defRPr sz="1100">
                <a:solidFill>
                  <a:srgbClr val="64748B"/>
                </a:solidFill>
                <a:latin typeface="Arial"/>
              </a:defRPr>
            </a:pPr>
            <a:r>
              <a:t>• Zero cached build states or volume state persistence</a:t>
            </a:r>
          </a:p>
          <a:p>
            <a:pPr>
              <a:spcAft>
                <a:spcPts val="300"/>
              </a:spcAft>
              <a:defRPr sz="1100">
                <a:solidFill>
                  <a:srgbClr val="64748B"/>
                </a:solidFill>
                <a:latin typeface="Arial"/>
              </a:defRPr>
            </a:pPr>
            <a:r>
              <a:t>• Requires full test suite completion with zero exceptions</a:t>
            </a:r>
          </a:p>
          <a:p>
            <a:pPr>
              <a:spcAft>
                <a:spcPts val="300"/>
              </a:spcAft>
              <a:defRPr sz="1100">
                <a:solidFill>
                  <a:srgbClr val="64748B"/>
                </a:solidFill>
                <a:latin typeface="Arial"/>
              </a:defRPr>
            </a:pPr>
            <a:r>
              <a:t>• Automated and non-bypassable pre-merge check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a:spAutoFit/>
          </a:bodyPr>
          <a:lstStyle/>
          <a:p>
            <a:pPr>
              <a:defRPr sz="2400" b="1">
                <a:solidFill>
                  <a:srgbClr val="1E293B"/>
                </a:solidFill>
                <a:latin typeface="Georgia"/>
              </a:defRPr>
            </a:pPr>
            <a:r>
              <a:t>Transition from decorative visual dashboards to strict active enforcement</a:t>
            </a:r>
          </a:p>
        </p:txBody>
      </p:sp>
      <p:sp>
        <p:nvSpPr>
          <p:cNvPr id="3" name="Rectangle 2"/>
          <p:cNvSpPr/>
          <p:nvPr/>
        </p:nvSpPr>
        <p:spPr>
          <a:xfrm>
            <a:off x="548640" y="1417320"/>
            <a:ext cx="11094415" cy="1905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920240"/>
            <a:ext cx="512064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5120640" cy="4114800"/>
          </a:xfrm>
          <a:prstGeom prst="rect">
            <a:avLst/>
          </a:prstGeom>
          <a:noFill/>
        </p:spPr>
        <p:txBody>
          <a:bodyPr wrap="square" lIns="274320" rIns="274320" tIns="274320">
            <a:spAutoFit/>
          </a:bodyPr>
          <a:lstStyle/>
          <a:p>
            <a:pPr>
              <a:spcAft>
                <a:spcPts val="400"/>
              </a:spcAft>
              <a:defRPr sz="1100" b="1">
                <a:solidFill>
                  <a:srgbClr val="1E293B"/>
                </a:solidFill>
                <a:latin typeface="Arial"/>
              </a:defRPr>
            </a:pPr>
            <a:r>
              <a:t>MECHANISM 3: ACTIVE CI ENFORCEMENT</a:t>
            </a:r>
          </a:p>
          <a:p>
            <a:pPr>
              <a:spcAft>
                <a:spcPts val="800"/>
              </a:spcAft>
              <a:defRPr sz="2200" b="1">
                <a:solidFill>
                  <a:srgbClr val="0F766E"/>
                </a:solidFill>
                <a:latin typeface="Georgia"/>
              </a:defRPr>
            </a:pPr>
            <a:r>
              <a:t>Active build failure rules</a:t>
            </a:r>
          </a:p>
          <a:p>
            <a:pPr>
              <a:lnSpc>
                <a:spcPct val="120000"/>
              </a:lnSpc>
              <a:spcAft>
                <a:spcPts val="1000"/>
              </a:spcAft>
              <a:defRPr sz="1200">
                <a:solidFill>
                  <a:srgbClr val="1E293B"/>
                </a:solidFill>
                <a:latin typeface="Arial"/>
              </a:defRPr>
            </a:pPr>
            <a:r>
              <a:t>Safety gates must actually halt the development pipeline rather than generating decorative status reports. We must continuously audit tool-to-lifecycle bindings to ensure code-coverage thresholds and static code quality rules cannot be bypassed.</a:t>
            </a:r>
          </a:p>
          <a:p>
            <a:pPr>
              <a:lnSpc>
                <a:spcPct val="115000"/>
              </a:lnSpc>
              <a:defRPr sz="1050">
                <a:solidFill>
                  <a:srgbClr val="64748B"/>
                </a:solidFill>
                <a:latin typeface="Arial"/>
              </a:defRPr>
            </a:pPr>
            <a:r>
              <a:t>Incident Audit: Discovered a Maven configuration where the test coverage verification was bound to the 'verify' phase, but developers only ran 'mvn test' in CI. The reports showed green, but the gate never actually evaluated code to block merges.</a:t>
            </a:r>
          </a:p>
        </p:txBody>
      </p:sp>
      <p:sp>
        <p:nvSpPr>
          <p:cNvPr id="6" name="Rounded Rectangle 5"/>
          <p:cNvSpPr/>
          <p:nvPr/>
        </p:nvSpPr>
        <p:spPr>
          <a:xfrm>
            <a:off x="6492240" y="1920240"/>
            <a:ext cx="5120640" cy="411480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920240"/>
            <a:ext cx="5120640" cy="4114800"/>
          </a:xfrm>
          <a:prstGeom prst="rect">
            <a:avLst/>
          </a:prstGeom>
          <a:noFill/>
        </p:spPr>
        <p:txBody>
          <a:bodyPr wrap="square" lIns="274320" rIns="274320" tIns="274320">
            <a:spAutoFit/>
          </a:bodyPr>
          <a:lstStyle/>
          <a:p>
            <a:pPr>
              <a:spcAft>
                <a:spcPts val="400"/>
              </a:spcAft>
              <a:defRPr sz="1100" b="1">
                <a:solidFill>
                  <a:srgbClr val="1E293B"/>
                </a:solidFill>
                <a:latin typeface="Arial"/>
              </a:defRPr>
            </a:pPr>
            <a:r>
              <a:t>MECHANISM 4: DATABASE ROLE PRIVILEGE AUDITING</a:t>
            </a:r>
          </a:p>
          <a:p>
            <a:pPr>
              <a:spcAft>
                <a:spcPts val="800"/>
              </a:spcAft>
              <a:defRPr sz="2200" b="1">
                <a:solidFill>
                  <a:srgbClr val="0F766E"/>
                </a:solidFill>
                <a:latin typeface="Georgia"/>
              </a:defRPr>
            </a:pPr>
            <a:r>
              <a:t>Database-level role defense</a:t>
            </a:r>
          </a:p>
          <a:p>
            <a:pPr>
              <a:lnSpc>
                <a:spcPct val="120000"/>
              </a:lnSpc>
              <a:spcAft>
                <a:spcPts val="1000"/>
              </a:spcAft>
              <a:defRPr sz="1200">
                <a:solidFill>
                  <a:srgbClr val="1E293B"/>
                </a:solidFill>
                <a:latin typeface="Arial"/>
              </a:defRPr>
            </a:pPr>
            <a:r>
              <a:t>Row-Level Security (RLS) is only as secure as the database role executing the queries. We must audit actual database grants to ensure the application's runtime database role does not possess privileges that bypass RLS policies.</a:t>
            </a:r>
          </a:p>
          <a:p>
            <a:pPr>
              <a:lnSpc>
                <a:spcPct val="115000"/>
              </a:lnSpc>
              <a:defRPr sz="1050">
                <a:solidFill>
                  <a:srgbClr val="64748B"/>
                </a:solidFill>
                <a:latin typeface="Arial"/>
              </a:defRPr>
            </a:pPr>
            <a:r>
              <a:t>Incident Audit: Discovered the main application role had been granted the 'BYPASSRLS' privilege during bootstrap. This silently disabled all database tenant-isolation policies, rendering the entire database security code block completely decorative.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a:spAutoFit/>
          </a:bodyPr>
          <a:lstStyle/>
          <a:p>
            <a:pPr>
              <a:defRPr sz="2400" b="1">
                <a:solidFill>
                  <a:srgbClr val="1E293B"/>
                </a:solidFill>
                <a:latin typeface="Georgia"/>
              </a:defRPr>
            </a:pPr>
            <a:r>
              <a:t>Enforce the 'forward-only' escalation rule to halt refactoring creep</a:t>
            </a:r>
          </a:p>
        </p:txBody>
      </p:sp>
      <p:sp>
        <p:nvSpPr>
          <p:cNvPr id="3" name="Rectangle 2"/>
          <p:cNvSpPr/>
          <p:nvPr/>
        </p:nvSpPr>
        <p:spPr>
          <a:xfrm>
            <a:off x="548640" y="1417320"/>
            <a:ext cx="11094415" cy="1905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920240"/>
            <a:ext cx="24688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2468880" cy="4023360"/>
          </a:xfrm>
          <a:prstGeom prst="rect">
            <a:avLst/>
          </a:prstGeom>
          <a:noFill/>
        </p:spPr>
        <p:txBody>
          <a:bodyPr wrap="square" lIns="182880" rIns="182880" tIns="228600" bIns="182880">
            <a:spAutoFit/>
          </a:bodyPr>
          <a:lstStyle/>
          <a:p>
            <a:pPr>
              <a:spcAft>
                <a:spcPts val="400"/>
              </a:spcAft>
              <a:defRPr sz="1100" b="1">
                <a:solidFill>
                  <a:srgbClr val="0F766E"/>
                </a:solidFill>
                <a:latin typeface="Arial"/>
              </a:defRPr>
            </a:pPr>
            <a:r>
              <a:t>STEP 1</a:t>
            </a:r>
          </a:p>
          <a:p>
            <a:pPr>
              <a:spcAft>
                <a:spcPts val="800"/>
              </a:spcAft>
              <a:defRPr sz="1700" b="1">
                <a:solidFill>
                  <a:srgbClr val="1E293B"/>
                </a:solidFill>
                <a:latin typeface="Georgia"/>
              </a:defRPr>
            </a:pPr>
            <a:r>
              <a:t>Encounter Debt</a:t>
            </a:r>
          </a:p>
          <a:p>
            <a:pPr>
              <a:lnSpc>
                <a:spcPct val="115000"/>
              </a:lnSpc>
              <a:defRPr sz="1050">
                <a:solidFill>
                  <a:srgbClr val="64748B"/>
                </a:solidFill>
                <a:latin typeface="Arial"/>
              </a:defRPr>
            </a:pPr>
            <a:r>
              <a:t>An AI agent or developer is implementing a localized feature or bug fix and encounters legacy technical debt, duplicate classes, or architectural issues in a neighboring module.</a:t>
            </a:r>
          </a:p>
        </p:txBody>
      </p:sp>
      <p:sp>
        <p:nvSpPr>
          <p:cNvPr id="6" name="Chevron 5"/>
          <p:cNvSpPr/>
          <p:nvPr/>
        </p:nvSpPr>
        <p:spPr>
          <a:xfrm>
            <a:off x="3063240" y="3566160"/>
            <a:ext cx="274320" cy="457200"/>
          </a:xfrm>
          <a:prstGeom prst="chevron">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83280" y="1920240"/>
            <a:ext cx="2468880" cy="4023360"/>
          </a:xfrm>
          <a:prstGeom prst="roundRect">
            <a:avLst/>
          </a:prstGeom>
          <a:solidFill>
            <a:srgbClr val="FFF7ED"/>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920240"/>
            <a:ext cx="2468880" cy="4023360"/>
          </a:xfrm>
          <a:prstGeom prst="rect">
            <a:avLst/>
          </a:prstGeom>
          <a:noFill/>
        </p:spPr>
        <p:txBody>
          <a:bodyPr wrap="square" lIns="182880" rIns="182880" tIns="228600" bIns="182880">
            <a:spAutoFit/>
          </a:bodyPr>
          <a:lstStyle/>
          <a:p>
            <a:pPr>
              <a:spcAft>
                <a:spcPts val="400"/>
              </a:spcAft>
              <a:defRPr sz="1100" b="1">
                <a:solidFill>
                  <a:srgbClr val="9A3412"/>
                </a:solidFill>
                <a:latin typeface="Arial"/>
              </a:defRPr>
            </a:pPr>
            <a:r>
              <a:t>STEP 2</a:t>
            </a:r>
          </a:p>
          <a:p>
            <a:pPr>
              <a:spcAft>
                <a:spcPts val="800"/>
              </a:spcAft>
              <a:defRPr sz="1700" b="1">
                <a:solidFill>
                  <a:srgbClr val="1E293B"/>
                </a:solidFill>
                <a:latin typeface="Georgia"/>
              </a:defRPr>
            </a:pPr>
            <a:r>
              <a:t>Do Not Refactor on the Fly</a:t>
            </a:r>
          </a:p>
          <a:p>
            <a:pPr>
              <a:lnSpc>
                <a:spcPct val="115000"/>
              </a:lnSpc>
              <a:defRPr sz="1050">
                <a:solidFill>
                  <a:srgbClr val="1E293B"/>
                </a:solidFill>
                <a:latin typeface="Arial"/>
              </a:defRPr>
            </a:pPr>
            <a:r>
              <a:t>Unilateral refactoring of nearby files expands the pull request scope. AI speed makes it easy to refactor thousands of lines instantly, but this breaks code reviews and introduces regressions.</a:t>
            </a:r>
          </a:p>
        </p:txBody>
      </p:sp>
      <p:sp>
        <p:nvSpPr>
          <p:cNvPr id="9" name="Chevron 8"/>
          <p:cNvSpPr/>
          <p:nvPr/>
        </p:nvSpPr>
        <p:spPr>
          <a:xfrm>
            <a:off x="5897880" y="3566160"/>
            <a:ext cx="274320" cy="457200"/>
          </a:xfrm>
          <a:prstGeom prst="chevron">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920240"/>
            <a:ext cx="2468880" cy="402336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920240"/>
            <a:ext cx="2468880" cy="4023360"/>
          </a:xfrm>
          <a:prstGeom prst="rect">
            <a:avLst/>
          </a:prstGeom>
          <a:noFill/>
        </p:spPr>
        <p:txBody>
          <a:bodyPr wrap="square" lIns="182880" rIns="182880" tIns="228600" bIns="182880">
            <a:spAutoFit/>
          </a:bodyPr>
          <a:lstStyle/>
          <a:p>
            <a:pPr>
              <a:spcAft>
                <a:spcPts val="400"/>
              </a:spcAft>
              <a:defRPr sz="1100" b="1">
                <a:solidFill>
                  <a:srgbClr val="0F766E"/>
                </a:solidFill>
                <a:latin typeface="Arial"/>
              </a:defRPr>
            </a:pPr>
            <a:r>
              <a:t>STEP 3</a:t>
            </a:r>
          </a:p>
          <a:p>
            <a:pPr>
              <a:spcAft>
                <a:spcPts val="800"/>
              </a:spcAft>
              <a:defRPr sz="1700" b="1">
                <a:solidFill>
                  <a:srgbClr val="1E293B"/>
                </a:solidFill>
                <a:latin typeface="Georgia"/>
              </a:defRPr>
            </a:pPr>
            <a:r>
              <a:t>Implement Minimal Fix</a:t>
            </a:r>
          </a:p>
          <a:p>
            <a:pPr>
              <a:lnSpc>
                <a:spcPct val="115000"/>
              </a:lnSpc>
              <a:defRPr sz="1050">
                <a:solidFill>
                  <a:srgbClr val="64748B"/>
                </a:solidFill>
                <a:latin typeface="Arial"/>
              </a:defRPr>
            </a:pPr>
            <a:r>
              <a:t>Focus entirely on the immediate, localized, low-risk fix. Solve the task at hand within the existing bounds of the class or package, ensuring the PR scope remains highly focused.</a:t>
            </a:r>
          </a:p>
        </p:txBody>
      </p:sp>
      <p:sp>
        <p:nvSpPr>
          <p:cNvPr id="12" name="Chevron 11"/>
          <p:cNvSpPr/>
          <p:nvPr/>
        </p:nvSpPr>
        <p:spPr>
          <a:xfrm>
            <a:off x="8732520" y="3566160"/>
            <a:ext cx="274320" cy="457200"/>
          </a:xfrm>
          <a:prstGeom prst="chevron">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52560" y="1920240"/>
            <a:ext cx="2468880" cy="4023360"/>
          </a:xfrm>
          <a:prstGeom prst="roundRect">
            <a:avLst/>
          </a:prstGeom>
          <a:solidFill>
            <a:srgbClr val="F0FD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1920240"/>
            <a:ext cx="2468880" cy="4023360"/>
          </a:xfrm>
          <a:prstGeom prst="rect">
            <a:avLst/>
          </a:prstGeom>
          <a:noFill/>
        </p:spPr>
        <p:txBody>
          <a:bodyPr wrap="square" lIns="182880" rIns="182880" tIns="228600" bIns="182880">
            <a:spAutoFit/>
          </a:bodyPr>
          <a:lstStyle/>
          <a:p>
            <a:pPr>
              <a:spcAft>
                <a:spcPts val="400"/>
              </a:spcAft>
              <a:defRPr sz="1100" b="1">
                <a:solidFill>
                  <a:srgbClr val="0F766E"/>
                </a:solidFill>
                <a:latin typeface="Arial"/>
              </a:defRPr>
            </a:pPr>
            <a:r>
              <a:t>STEP 4</a:t>
            </a:r>
          </a:p>
          <a:p>
            <a:pPr>
              <a:spcAft>
                <a:spcPts val="800"/>
              </a:spcAft>
              <a:defRPr sz="1700" b="1">
                <a:solidFill>
                  <a:srgbClr val="1E293B"/>
                </a:solidFill>
                <a:latin typeface="Georgia"/>
              </a:defRPr>
            </a:pPr>
            <a:r>
              <a:t>Escalate Forward</a:t>
            </a:r>
          </a:p>
          <a:p>
            <a:pPr>
              <a:lnSpc>
                <a:spcPct val="115000"/>
              </a:lnSpc>
              <a:defRPr sz="1050">
                <a:solidFill>
                  <a:srgbClr val="1E293B"/>
                </a:solidFill>
                <a:latin typeface="Arial"/>
              </a:defRPr>
            </a:pPr>
            <a:r>
              <a:t>Log the larger architectural cleanups or migrations as dedicated, independent tracking tickets. Escalate the debt forward into a formal architectural review rather than hiding it in a feature PR.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a:spAutoFit/>
          </a:bodyPr>
          <a:lstStyle/>
          <a:p>
            <a:pPr>
              <a:defRPr sz="2400" b="1">
                <a:solidFill>
                  <a:srgbClr val="1E293B"/>
                </a:solidFill>
                <a:latin typeface="Georgia"/>
              </a:defRPr>
            </a:pPr>
            <a:r>
              <a:t>Next Steps: Establish three milestones to transition your engineering team</a:t>
            </a:r>
          </a:p>
        </p:txBody>
      </p:sp>
      <p:sp>
        <p:nvSpPr>
          <p:cNvPr id="3" name="Rectangle 2"/>
          <p:cNvSpPr/>
          <p:nvPr/>
        </p:nvSpPr>
        <p:spPr>
          <a:xfrm>
            <a:off x="548640" y="1417320"/>
            <a:ext cx="11094415" cy="1905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920240"/>
            <a:ext cx="11094415"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920240"/>
            <a:ext cx="11094415" cy="1188720"/>
          </a:xfrm>
          <a:prstGeom prst="rect">
            <a:avLst/>
          </a:prstGeom>
          <a:noFill/>
        </p:spPr>
        <p:txBody>
          <a:bodyPr wrap="square" lIns="228600" rIns="228600" tIns="137160" bIns="137160">
            <a:spAutoFit/>
          </a:bodyPr>
          <a:lstStyle/>
          <a:p>
            <a:pPr>
              <a:spcAft>
                <a:spcPts val="400"/>
              </a:spcAft>
              <a:defRPr sz="1200" b="1">
                <a:solidFill>
                  <a:srgbClr val="1E293B"/>
                </a:solidFill>
                <a:latin typeface="Arial"/>
              </a:defRPr>
            </a:pPr>
            <a:r>
              <a:t>PHASE 1: SECURE &amp; VERIFY (Immediate) — Audit and lock down the environment</a:t>
            </a:r>
          </a:p>
          <a:p>
            <a:pPr>
              <a:lnSpc>
                <a:spcPct val="115000"/>
              </a:lnSpc>
              <a:defRPr sz="1000">
                <a:solidFill>
                  <a:srgbClr val="64748B"/>
                </a:solidFill>
                <a:latin typeface="Arial"/>
              </a:defRPr>
            </a:pPr>
            <a:r>
              <a:t>Revoke 'BYPASSRLS' and superuser privileges on the runtime application database role | Audit CI pipeline configurations to ensure that build failures actively prevent merges rather than showing visual-only green indicators | Lock down main and release branches with non-bypassable status checks</a:t>
            </a:r>
          </a:p>
        </p:txBody>
      </p:sp>
      <p:sp>
        <p:nvSpPr>
          <p:cNvPr id="6" name="Rounded Rectangle 5"/>
          <p:cNvSpPr/>
          <p:nvPr/>
        </p:nvSpPr>
        <p:spPr>
          <a:xfrm>
            <a:off x="548640" y="3474720"/>
            <a:ext cx="11094415" cy="1188720"/>
          </a:xfrm>
          <a:prstGeom prst="roundRect">
            <a:avLst/>
          </a:prstGeom>
          <a:solidFill>
            <a:srgbClr val="F0FDF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474720"/>
            <a:ext cx="11094415" cy="1188720"/>
          </a:xfrm>
          <a:prstGeom prst="rect">
            <a:avLst/>
          </a:prstGeom>
          <a:noFill/>
        </p:spPr>
        <p:txBody>
          <a:bodyPr wrap="square" lIns="228600" rIns="228600" tIns="137160" bIns="137160">
            <a:spAutoFit/>
          </a:bodyPr>
          <a:lstStyle/>
          <a:p>
            <a:pPr>
              <a:spcAft>
                <a:spcPts val="400"/>
              </a:spcAft>
              <a:defRPr sz="1200" b="1">
                <a:solidFill>
                  <a:srgbClr val="0F766E"/>
                </a:solidFill>
                <a:latin typeface="Arial"/>
              </a:defRPr>
            </a:pPr>
            <a:r>
              <a:t>PHASE 2: ESTABLISH TRIAGE &amp; TOOLING (30 Days) — Deploy structured developer tooling</a:t>
            </a:r>
          </a:p>
          <a:p>
            <a:pPr>
              <a:lnSpc>
                <a:spcPct val="115000"/>
              </a:lnSpc>
              <a:defRPr sz="1000">
                <a:solidFill>
                  <a:srgbClr val="1E293B"/>
                </a:solidFill>
                <a:latin typeface="Arial"/>
              </a:defRPr>
            </a:pPr>
            <a:r>
              <a:t>Implement developer routing scripts to auto-assign tasks to Tier 1, Tier 2, or Tier 3 models based on metadata | Set up local container orchestration with pre-seeded database volumes to support sub-5-second Speed 1 testing | Integrate linting and static-analysis pre-commit hooks to automate quality checks before CI triggers</a:t>
            </a:r>
          </a:p>
        </p:txBody>
      </p:sp>
      <p:sp>
        <p:nvSpPr>
          <p:cNvPr id="8" name="Rounded Rectangle 7"/>
          <p:cNvSpPr/>
          <p:nvPr/>
        </p:nvSpPr>
        <p:spPr>
          <a:xfrm>
            <a:off x="548640" y="5029200"/>
            <a:ext cx="11094415" cy="118872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029200"/>
            <a:ext cx="11094415" cy="1188720"/>
          </a:xfrm>
          <a:prstGeom prst="rect">
            <a:avLst/>
          </a:prstGeom>
          <a:noFill/>
        </p:spPr>
        <p:txBody>
          <a:bodyPr wrap="square" lIns="228600" rIns="228600" tIns="137160" bIns="137160">
            <a:spAutoFit/>
          </a:bodyPr>
          <a:lstStyle/>
          <a:p>
            <a:pPr>
              <a:spcAft>
                <a:spcPts val="400"/>
              </a:spcAft>
              <a:defRPr sz="1200" b="1">
                <a:solidFill>
                  <a:srgbClr val="1E293B"/>
                </a:solidFill>
                <a:latin typeface="Arial"/>
              </a:defRPr>
            </a:pPr>
            <a:r>
              <a:t>PHASE 3: TRAINING &amp; GOVERNANCE AUDITING (60 Days) — Train on protocols and establish recurring audits</a:t>
            </a:r>
          </a:p>
          <a:p>
            <a:pPr>
              <a:lnSpc>
                <a:spcPct val="115000"/>
              </a:lnSpc>
              <a:defRPr sz="1000">
                <a:solidFill>
                  <a:srgbClr val="64748B"/>
                </a:solidFill>
                <a:latin typeface="Arial"/>
              </a:defRPr>
            </a:pPr>
            <a:r>
              <a:t>Train all engineers on the 'forward-only' escalation rule and structural scope boundaries | Conduct bi-weekly reviews of model token costs and routing distributions across tiers | Perform automated database grant reviews as a standard part of the release cycle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